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3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011680"/>
            <a:ext cx="10332720" cy="2834640"/>
          </a:xfrm>
          <a:prstGeom prst="roundRect">
            <a:avLst/>
          </a:prstGeom>
          <a:solidFill>
            <a:srgbClr val="0A1C3D"/>
          </a:solidFill>
          <a:ln w="25400">
            <a:solidFill>
              <a:srgbClr val="7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286000"/>
            <a:ext cx="96926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SaiZen Yamanami — 機器配置 ブループリント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0400"/>
            <a:ext cx="9692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7FD4FF"/>
                </a:solidFill>
                <a:latin typeface="Meiryo"/>
                <a:ea typeface="Meiryo"/>
                <a:cs typeface="Meiryo"/>
              </a:rPr>
              <a:t>현장 운영 통합 시스템 — 장비 배치 · 모델 · 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0480"/>
            <a:ext cx="9692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웹기반(GitHub Pages + Supabase) · 라이트 · 한·일 직원 공용</a:t>
            </a:r>
          </a:p>
          <a:p>
            <a:pPr algn="l"/>
            <a:r>
              <a:rPr sz="13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v2 · N.T.S. · 가격=일본 조달 참고가(세금·배송 별도, 변동)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개요 ·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왜 이렇게 배치하는가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D27F"/>
                </a:solidFill>
                <a:latin typeface="Meiryo"/>
                <a:ea typeface="Meiryo"/>
                <a:cs typeface="Meiryo"/>
              </a:rPr>
              <a:t>■ 시스템 성격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· 웹 기반 — 앱 설치 없이 브라우저(Chrome/Edge/Safari)만 있으면 동작 → 고사양 불필요, 기기 선택 유연.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· 데이터는 클라우드(Supabase) — 화면은 여러 곳, 데이터는 하나로 공유.</a:t>
            </a:r>
          </a:p>
          <a:p>
            <a:pPr algn="l"/>
            <a:r>
              <a:rPr sz="14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/>
            <a:r>
              <a:rPr sz="1600" b="1">
                <a:solidFill>
                  <a:srgbClr val="FFD27F"/>
                </a:solidFill>
                <a:latin typeface="Meiryo"/>
                <a:ea typeface="Meiryo"/>
                <a:cs typeface="Meiryo"/>
              </a:rPr>
              <a:t>■ 예산 우선순위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① 인터넷 회선 이중화(광 + 5G 백업) — '끊김=정지' 방지의 핵심. ② UPS(정전 대비). ③ 단말·모니터.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· 인터넷 끊겨도 데이터 손실은 아님(클라우드+자동백업). 그 순간 라이브 조작만 일시정지.</a:t>
            </a:r>
          </a:p>
          <a:p>
            <a:pPr algn="l"/>
            <a:r>
              <a:rPr sz="14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/>
            <a:r>
              <a:rPr sz="1600" b="1">
                <a:solidFill>
                  <a:srgbClr val="FFD27F"/>
                </a:solidFill>
                <a:latin typeface="Meiryo"/>
                <a:ea typeface="Meiryo"/>
                <a:cs typeface="Meiryo"/>
              </a:rPr>
              <a:t>■ 스테이션 구성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· 백오피스(방배정 '작업'·기획) / 로비 정산 2~3레인(배정 '조회'+정산) / POS 매장 / 주방·바 KDS / 인쇄 / 네트워크 허브.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· 프론트(로비)는 방배정을 '작업'하지 않고 '배정 결과 조회'+정산만 → 표준 24″. 방배정 작업용 광폭 QHD는 백오피스.</a:t>
            </a:r>
          </a:p>
          <a:p>
            <a:pPr algn="l"/>
            <a:r>
              <a:rPr sz="14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/>
            <a:r>
              <a:rPr sz="1600" b="1">
                <a:solidFill>
                  <a:srgbClr val="FFD27F"/>
                </a:solidFill>
                <a:latin typeface="Meiryo"/>
                <a:ea typeface="Meiryo"/>
                <a:cs typeface="Meiryo"/>
              </a:rPr>
              <a:t>■ 보안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· 프론트·정산 화면에 고객 PII 표시 → 프라이버시 필터. 손님 표시 태블릿=읽기전용(키오스크)+도난방지.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배치도 (Layout)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구역·기기·네트워크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743200" cy="2011680"/>
          </a:xfrm>
          <a:prstGeom prst="roundRect">
            <a:avLst/>
          </a:prstGeom>
          <a:solidFill>
            <a:srgbClr val="123360"/>
          </a:solidFill>
          <a:ln w="20320">
            <a:solidFill>
              <a:srgbClr val="7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160780"/>
            <a:ext cx="2590800" cy="1884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FD4FF"/>
                </a:solidFill>
                <a:latin typeface="Meiryo"/>
                <a:ea typeface="Meiryo"/>
                <a:cs typeface="Meiryo"/>
              </a:rPr>
              <a:t>🛜 네트워크·전원 (HUB)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라우터 RTX1220 / 5G백업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PoE 스위치 / AP×4~6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UPS×3~4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⚠ 회선 이중화 최우선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97280"/>
            <a:ext cx="5212080" cy="2011680"/>
          </a:xfrm>
          <a:prstGeom prst="roundRect">
            <a:avLst/>
          </a:prstGeom>
          <a:solidFill>
            <a:srgbClr val="123360"/>
          </a:solidFill>
          <a:ln w="20320">
            <a:solidFill>
              <a:srgbClr val="7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9480" y="1160780"/>
            <a:ext cx="5059680" cy="1884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FD4FF"/>
                </a:solidFill>
                <a:latin typeface="Meiryo"/>
                <a:ea typeface="Meiryo"/>
                <a:cs typeface="Meiryo"/>
              </a:rPr>
              <a:t>🛎 로비 정산 카운터 · 2~3레인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레인마다: 직원PC + 24″FHD + 필터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         + 손님 태블릿(키오스크)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배정 '조회' + 御請求書 정산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097280"/>
            <a:ext cx="2926080" cy="2011680"/>
          </a:xfrm>
          <a:prstGeom prst="roundRect">
            <a:avLst/>
          </a:prstGeom>
          <a:solidFill>
            <a:srgbClr val="123360"/>
          </a:solidFill>
          <a:ln w="20320">
            <a:solidFill>
              <a:srgbClr val="FFD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4440" y="1160780"/>
            <a:ext cx="2773680" cy="1884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FFD27F"/>
                </a:solidFill>
                <a:latin typeface="Meiryo"/>
                <a:ea typeface="Meiryo"/>
                <a:cs typeface="Meiryo"/>
              </a:rPr>
              <a:t>🗂 백오피스·방배정석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PC + 27″ QHD ×1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프라이버시 필터(PII)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★ 방배정 '작업'은 여기서만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3291840" cy="2377440"/>
          </a:xfrm>
          <a:prstGeom prst="roundRect">
            <a:avLst/>
          </a:prstGeom>
          <a:solidFill>
            <a:srgbClr val="123360"/>
          </a:solidFill>
          <a:ln w="20320">
            <a:solidFill>
              <a:srgbClr val="7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3446780"/>
            <a:ext cx="3139440" cy="2250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FD4FF"/>
                </a:solidFill>
                <a:latin typeface="Meiryo"/>
                <a:ea typeface="Meiryo"/>
                <a:cs typeface="Meiryo"/>
              </a:rPr>
              <a:t>👨‍🍳 주방·바 KDS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주방 터치모니터 ×1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바 터치모니터 ×0~1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미니PC ×1~2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방수커버+워셔블 키보드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383280"/>
            <a:ext cx="4206240" cy="2377440"/>
          </a:xfrm>
          <a:prstGeom prst="roundRect">
            <a:avLst/>
          </a:prstGeom>
          <a:solidFill>
            <a:srgbClr val="123360"/>
          </a:solidFill>
          <a:ln w="20320">
            <a:solidFill>
              <a:srgbClr val="7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8120" y="3446780"/>
            <a:ext cx="4053840" cy="2250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FD4FF"/>
                </a:solidFill>
                <a:latin typeface="Meiryo"/>
                <a:ea typeface="Meiryo"/>
                <a:cs typeface="Meiryo"/>
              </a:rPr>
              <a:t>🍷 POS 매장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레스토랑/연회 iPad ×1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골프샵 iPad ×1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매점 iPad ×1 (확정)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거치대+필름+케이스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383280"/>
            <a:ext cx="3383280" cy="2377440"/>
          </a:xfrm>
          <a:prstGeom prst="roundRect">
            <a:avLst/>
          </a:prstGeom>
          <a:solidFill>
            <a:srgbClr val="123360"/>
          </a:solidFill>
          <a:ln w="20320">
            <a:solidFill>
              <a:srgbClr val="7F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7240" y="3446780"/>
            <a:ext cx="3230880" cy="2250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7FD4FF"/>
                </a:solidFill>
                <a:latin typeface="Meiryo"/>
                <a:ea typeface="Meiryo"/>
                <a:cs typeface="Meiryo"/>
              </a:rPr>
              <a:t>🖨 인쇄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A4 흑백 레이저 ×1~2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A3 복합기 ×1 (夕食A3)</a:t>
            </a:r>
          </a:p>
          <a:p>
            <a:pPr algn="l"/>
            <a:r>
              <a:rPr sz="10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Askul 24면 라벨·토너 예비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─ ─ 네트워크(LAN/Wi-Fi)는 허브에서 전 구역으로 · 손님 태블릿=읽기전용 · 프론트=조회/정산, 방배정 작업=백오피스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① 네트워크 · 전원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최우선 — 회선 이중화 + 무정전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74877"/>
                <a:gridCol w="4099837"/>
                <a:gridCol w="1229951"/>
                <a:gridCol w="2869885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항목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모델 (예)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참고가(¥)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메인 라우터(듀얼WAN·VPN)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YAMAHA RTX1220 (또는 NVR510)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60,000~90,000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인터넷 백업(5G)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docomo home 5G HR02 / au·SoftBank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단말 무료~ +월 4,000~5,000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Wi-Fi AP(건물 커버)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YAMAHA WLX222 / Aruba IO AP22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4~6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25,000~40,000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PoE 스위치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NETGEAR GS308P / YAMAHA SWX2110P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1~2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15,000~30,000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UPS(무정전)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OMRON BY50S / APC BR550S-JP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3~4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18,000~25,000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FD27F"/>
                </a:solidFill>
                <a:latin typeface="Meiryo"/>
                <a:ea typeface="Meiryo"/>
                <a:cs typeface="Meiryo"/>
              </a:rPr>
              <a:t>⚠ 회선 이중화 + UPS 만 갖춰도 '끊김/정전 정지'의 90%가 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② 백오피스 · 방배정/기획석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방배정 '작업'·정산 마감 — 광폭 QHD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1383"/>
                <a:gridCol w="4960802"/>
                <a:gridCol w="1127455"/>
                <a:gridCol w="225491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항목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모델 (예)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참고가(¥)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미니 PC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Dell OptiPlex Micro 7020 (i5·16GB·SSD)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90,000~130,000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모니터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iiyama ProLite XUB2792QSU 27″ QHD IPS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25,000~30,000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모니터(프리미엄 대안)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EIZO FlexScan EV2495 24.1″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택1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55,000~65,000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프라이버시 필터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3M / ELECOM 27″ QHD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5,000~9,000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무선 키보드·마우스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Logicool MK295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4,000~6,000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③ 로비 정산 카운터 (2~3 레인)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레인마다: 직원 단말 + 손님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05892"/>
                <a:gridCol w="4735311"/>
                <a:gridCol w="1352946"/>
                <a:gridCol w="2480401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항목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모델 (예)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참고가(¥)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직원 단말(컴팩트 PC)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Dell OptiPlex Micro / HP ProDesk Mini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80,000~120,000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모니터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iiyama ProLite XUB2492HSU 24″ FHD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15,000~18,000 / 대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프라이버시 필터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3M / ELECOM 23.8″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4,000~7,000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손님 표시 태블릿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iPad 第10世代 10.9″ / Galaxy Tab A9+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30,000~70,000 / 대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고객쪽 회전 스탠드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카운터 회전 마운트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4,000~9,000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강화유리 보호필름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NIMASO / ESR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1,500~2,500 / 장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도난방지 락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안티세프트 마운트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3,000~6,000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FD27F"/>
                </a:solidFill>
                <a:latin typeface="Meiryo"/>
                <a:ea typeface="Meiryo"/>
                <a:cs typeface="Meiryo"/>
              </a:rPr>
              <a:t>절약 대안: 레인=태블릿 + 카운터 공용 A4 프린터 → 레인 비용 30~40%↓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④ POS 매장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레스토랑/연회 · 골프샵 · 매점 (매장수 확정 필요)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1383"/>
                <a:gridCol w="4735311"/>
                <a:gridCol w="1352946"/>
                <a:gridCol w="225491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항목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모델 (예)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참고가(¥)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POS 태블릿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iPad 第10世代 10.9″ / iPad Air 11″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60,000~95,000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카운터 거치대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회전 스탠드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4,000~8,000 / 대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강화유리 필름 + 케이스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NIMASO/ESR + 범퍼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3,500~6,500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⑤ 주방 · 바 KDS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열·물·기름 대비 터치모니터 + 미니PC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56874"/>
                <a:gridCol w="4509820"/>
                <a:gridCol w="1352946"/>
                <a:gridCol w="225491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항목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모델 (예)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참고가(¥)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주방 터치모니터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iiyama ProLite TF2438MSC 23.8″ 오픈프레임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45,000~55,000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바 터치모니터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iiyama ProLite T2452MSC 23.8″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0~1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35,000~45,000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미니 PC(각)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Dell OptiPlex Micro / Intel NUC (i3)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1~2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60,000~90,000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방수·방유 커버 + 워셔블 키보드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실리콘 커버 / Logicool 워셔블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1~2조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6,000~14,000 / 조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⑥ 인쇄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정산 카운터·주방 근처 배치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05892"/>
                <a:gridCol w="5186293"/>
                <a:gridCol w="1352946"/>
                <a:gridCol w="2029419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항목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모델 (예)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참고가(¥)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A4 흑백 레이저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Brother HL-L2375DW / Canon Satera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1~2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18,000~30,000 / 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A3 복합/인쇄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Epson PX-M6712FT(A3) / Brother HL-J6000CDW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50,000~90,000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네임택 라벨용지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Askul/A-one 24면(70×33.9mm, A4)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소모품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1,500~3,000 / 箱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토너·잉크 예비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기종별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소모품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FD27F"/>
                </a:solidFill>
                <a:latin typeface="Meiryo"/>
                <a:ea typeface="Meiryo"/>
                <a:cs typeface="Meiryo"/>
              </a:rPr>
              <a:t>御請求書·手配書·네임택=A4 / 夕食オーダー=A3 가로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⑦ 부수 액세서리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보호필름·필터·UPS·케이블 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0" cy="502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태블릿 강화유리 보호필름 — 손님표시·POS 전부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태블릿 케이스 / 회전 스탠드 / 도난방지 락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모니터 프라이버시 필터 — 백오피스+정산 레인(PII)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UPS(무정전) — 라우터·백오피스·정산레인·KDS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서지 보호 전원탭 — 각 스테이션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주방 KDS 방수·방유 커버 + 워셔블 키보드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486400" cy="502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LAN 케이블 / PoE 스위치 / AP 마운트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무선 키보드·마우스(항균)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모니터 암(선택, 공간·자세)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화면 청소키트 · 극세사천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라벨용지·토너·잉크 예비(소모품 비축)</a:t>
            </a:r>
          </a:p>
          <a:p>
            <a:pPr algn="l"/>
            <a:r>
              <a:rPr sz="13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☑ 케이블 정리(몰딩·타이) — 카운터 미관·안전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⑧ 비용 요약 (권장 · 정산 3레인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환율·세금·옵션에 따라 변동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539240"/>
                <a:gridCol w="1578437"/>
                <a:gridCol w="315687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분류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수량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FD4FF"/>
                          </a:solidFill>
                          <a:latin typeface="Meiryo"/>
                          <a:ea typeface="Meiryo"/>
                          <a:cs typeface="Meiryo"/>
                        </a:rPr>
                        <a:t>소계 참고(¥)</a:t>
                      </a:r>
                    </a:p>
                  </a:txBody>
                  <a:tcPr marL="63500" marR="50800" marT="25400" marB="25400" anchor="ctr">
                    <a:solidFill>
                      <a:srgbClr val="0E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네트워크(라우터·5G·AP×5·스위치·UPS×4)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1세트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270,000~410,000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백오피스/방배정석(PC+27″QHD+필터)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130,000~180,000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로비 정산 카운터(PC+24″+필터+손님태블릿+부속) ×3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3레인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450,000~620,000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POS 매장 태블릿(거치·필름·케이스)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2~3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150,000~310,000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주방·바 KDS(터치+미니PC+보호)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1~2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130,000~330,000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인쇄(A4×1~2 + A3 + 소모품)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90,000~150,000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부수 액세서리(잔여)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일괄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30,000~60,000</a:t>
                      </a:r>
                    </a:p>
                  </a:txBody>
                  <a:tcPr marL="63500" marR="50800" marT="25400" marB="25400" anchor="ctr">
                    <a:solidFill>
                      <a:srgbClr val="1233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합계 (권장)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E9FF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D27F"/>
                          </a:solidFill>
                          <a:latin typeface="Meiryo"/>
                          <a:ea typeface="Meiryo"/>
                          <a:cs typeface="Meiryo"/>
                        </a:rPr>
                        <a:t>약 1,250,000~2,060,000</a:t>
                      </a:r>
                    </a:p>
                  </a:txBody>
                  <a:tcPr marL="63500" marR="50800" marT="25400" marB="25400" anchor="ctr">
                    <a:solidFill>
                      <a:srgbClr val="0E2C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FD27F"/>
                </a:solidFill>
                <a:latin typeface="Meiryo"/>
                <a:ea typeface="Meiryo"/>
                <a:cs typeface="Meiryo"/>
              </a:rPr>
              <a:t>절약 대안(정산 레인=태블릿+공용 프린터) 적용 시 레인 비용 30~40%↓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EEF5FF"/>
                </a:solidFill>
                <a:latin typeface="Meiryo"/>
                <a:ea typeface="Meiryo"/>
                <a:cs typeface="Meiryo"/>
              </a:rPr>
              <a:t>⑨ 확정 필요 (v3 반영)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486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이것만 정하면 수량·비용 확정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25400"/>
          </a:xfrm>
          <a:prstGeom prst="rect">
            <a:avLst/>
          </a:prstGeom>
          <a:solidFill>
            <a:srgbClr val="7F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1. 로비 정산 레인 = 2 / 3 + 방식(직원 PC vs 태블릿+공용프린터)</a:t>
            </a:r>
          </a:p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2. POS 매장 수(레스토랑/연회·골프샵·매점 외 추가?)</a:t>
            </a:r>
          </a:p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3. 바 KDS 별도 vs 주방 겸용</a:t>
            </a:r>
          </a:p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4. Wi-Fi 커버 건물 수·거리 → AP 대수·메시 필요 여부</a:t>
            </a:r>
          </a:p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5. 위성 리셉션(간지·시즈노야도·쿠주힐즈 자체 체크인) 필요 여부</a:t>
            </a:r>
          </a:p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6. iPad vs Galaxy Tab 통일</a:t>
            </a:r>
          </a:p>
          <a:p>
            <a:pPr algn="l"/>
            <a:r>
              <a:rPr sz="15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>7. 예산 상·하한(프리미엄 모니터·라우터 채택 여부)</a:t>
            </a:r>
          </a:p>
          <a:p>
            <a:pPr algn="l"/>
            <a:r>
              <a:rPr sz="1400" b="0">
                <a:solidFill>
                  <a:srgbClr val="DCE9FF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/>
            <a:r>
              <a:rPr sz="1100" b="0">
                <a:solidFill>
                  <a:srgbClr val="9FC0EC"/>
                </a:solidFill>
                <a:latin typeface="Meiryo"/>
                <a:ea typeface="Meiryo"/>
                <a:cs typeface="Meiryo"/>
              </a:rPr>
              <a:t>※ 본 자료는 참고용 · 가격은 일본 조달 참고가(세금·배송 별도, 변동).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